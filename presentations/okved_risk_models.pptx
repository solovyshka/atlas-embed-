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3000" b="1">
                <a:solidFill>
                  <a:srgbClr val="102A43"/>
                </a:solidFill>
                <a:latin typeface="Aptos"/>
              </a:rPr>
              <a:t>ОКВЭД-эмбеддинги поверх готового риск-скора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996696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800" b="0">
                <a:solidFill>
                  <a:srgbClr val="505E6C"/>
                </a:solidFill>
                <a:latin typeface="Aptos"/>
              </a:rPr>
              <a:t>Компактная residual-нейросеть для добавления отраслевого сигнала к уже работающему бустингу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926080" cy="114300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862072"/>
            <a:ext cx="2779776" cy="9601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000" b="1">
                <a:solidFill>
                  <a:srgbClr val="102A43"/>
                </a:solidFill>
                <a:latin typeface="Aptos"/>
              </a:rPr>
              <a:t>Готовый</a:t>
            </a:r>
            <a:br/>
            <a:r>
              <a:rPr sz="2000" b="1">
                <a:solidFill>
                  <a:srgbClr val="102A43"/>
                </a:solidFill>
                <a:latin typeface="Aptos"/>
              </a:rPr>
              <a:t>boost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743200"/>
            <a:ext cx="292608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2862072"/>
            <a:ext cx="2779776" cy="9601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000" b="1">
                <a:solidFill>
                  <a:srgbClr val="102A43"/>
                </a:solidFill>
                <a:latin typeface="Aptos"/>
              </a:rPr>
              <a:t>ОКВЭД</a:t>
            </a:r>
            <a:br/>
            <a:r>
              <a:rPr sz="2000" b="1">
                <a:solidFill>
                  <a:srgbClr val="102A43"/>
                </a:solidFill>
                <a:latin typeface="Aptos"/>
              </a:rPr>
              <a:t>клиента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743200"/>
            <a:ext cx="2926080" cy="1143000"/>
          </a:xfrm>
          <a:prstGeom prst="roundRect">
            <a:avLst/>
          </a:prstGeom>
          <a:solidFill>
            <a:srgbClr val="DBEF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2862072"/>
            <a:ext cx="2779776" cy="9601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000" b="1">
                <a:solidFill>
                  <a:srgbClr val="148379"/>
                </a:solidFill>
                <a:latin typeface="Aptos"/>
              </a:rPr>
              <a:t>Итоговый</a:t>
            </a:r>
            <a:br/>
            <a:r>
              <a:rPr sz="2000" b="1">
                <a:solidFill>
                  <a:srgbClr val="148379"/>
                </a:solidFill>
                <a:latin typeface="Aptos"/>
              </a:rPr>
              <a:t>риск-скор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3319272"/>
            <a:ext cx="96012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43800" y="3319272"/>
            <a:ext cx="96012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98348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Aptos"/>
              </a:rPr>
              <a:t>Цель: использовать отраслевую информацию как осторожную поправку, а не заменять основную риск-модель.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Почему обычные подходы не дали прироста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914400" cy="45720"/>
          </a:xfrm>
          <a:prstGeom prst="rect">
            <a:avLst/>
          </a:prstGeom>
          <a:solidFill>
            <a:srgbClr val="1483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10896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ОКВЭД высококардинален, распределение кодов неравномерно, а основной скор уже объясняет большую часть риска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10896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3108960"/>
          </a:xfrm>
          <a:prstGeom prst="rect">
            <a:avLst/>
          </a:prstGeom>
          <a:solidFill>
            <a:srgbClr val="B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303580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ОКВЭД прямо в CatBoost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3035808" cy="245059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Редкие коды встречаются мало раз. Модель вынуждена оценивать эффект каждого leaf-кода почти независимо — риск шума и нестабильности.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45920"/>
            <a:ext cx="3383280" cy="310896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45920"/>
            <a:ext cx="73152" cy="3108960"/>
          </a:xfrm>
          <a:prstGeom prst="rect">
            <a:avLst/>
          </a:prstGeom>
          <a:solidFill>
            <a:srgbClr val="B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810512"/>
            <a:ext cx="303580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Нейросеть только по ОКВЭД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94560"/>
            <a:ext cx="3035808" cy="245059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Сеть видит отрасль, но не видит индивидуальный риск клиента, уже извлеченный большим набором признаков в бустинге.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645920"/>
            <a:ext cx="3383280" cy="310896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73152" cy="310896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810512"/>
            <a:ext cx="303580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Следствие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194560"/>
            <a:ext cx="3035808" cy="245059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Нужна модель, которая учит только недостающую отраслевую часть риска после учета готового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230368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300" b="0">
                <a:solidFill>
                  <a:srgbClr val="505E6C"/>
                </a:solidFill>
                <a:latin typeface="Aptos"/>
              </a:rPr>
              <a:t>Не утверждаем, что любой CatBoost не может работать: проблема — слабый инкрементальный сигнал и редкие категории.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Идея: учим не риск целиком, а остаточную поправку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914400" cy="45720"/>
          </a:xfrm>
          <a:prstGeom prst="rect">
            <a:avLst/>
          </a:prstGeom>
          <a:solidFill>
            <a:srgbClr val="1483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800" b="1">
                <a:solidFill>
                  <a:srgbClr val="102A43"/>
                </a:solidFill>
                <a:latin typeface="Aptos"/>
              </a:rPr>
              <a:t>p_final = sigmoid( logit(p_boost) + α · Δ_OKVED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291840" cy="164592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73152" cy="1645920"/>
          </a:xfrm>
          <a:prstGeom prst="rect">
            <a:avLst/>
          </a:prstGeom>
          <a:solidFill>
            <a:srgbClr val="1C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907792"/>
            <a:ext cx="294436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p_boost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291840"/>
            <a:ext cx="2944368" cy="98755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Вероятность дефолта от существующего бустинга. На train она должна быть OOF.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2743200"/>
            <a:ext cx="3291840" cy="164592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3128" y="2743200"/>
            <a:ext cx="73152" cy="164592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907792"/>
            <a:ext cx="294436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Δ_OKVED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291840"/>
            <a:ext cx="2944368" cy="98755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Нейросеть оценивает добавку к log-odds из ОКВЭД, а не прогнозирует дефолт с нуля.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743200"/>
            <a:ext cx="3291840" cy="164592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4736" y="2743200"/>
            <a:ext cx="73152" cy="1645920"/>
          </a:xfrm>
          <a:prstGeom prst="rect">
            <a:avLst/>
          </a:prstGeom>
          <a:solidFill>
            <a:srgbClr val="1C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907792"/>
            <a:ext cx="294436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291840"/>
            <a:ext cx="2944368" cy="98755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Обучаемый коэффициент: ограничивает силу новой ветки, если отраслевой сигнал слаб.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600" b="0">
                <a:solidFill>
                  <a:srgbClr val="505E6C"/>
                </a:solidFill>
                <a:latin typeface="Aptos"/>
              </a:rPr>
              <a:t>Сложение выполняется в log-odds: поправки имеют естественную интерпретацию как мультипликатор odds.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Flat-модель: отдельный embedding для полного кода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914400" cy="45720"/>
          </a:xfrm>
          <a:prstGeom prst="rect">
            <a:avLst/>
          </a:prstGeom>
          <a:solidFill>
            <a:srgbClr val="1483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10896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Подходит, если по конкретным ОКВЭД достаточно наблюдений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41732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450591"/>
            <a:ext cx="1271016" cy="8686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46.74.2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полный код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331720"/>
            <a:ext cx="1417320" cy="105156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2450591"/>
            <a:ext cx="1271016" cy="8686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ID в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словаре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331720"/>
            <a:ext cx="141732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68112" y="2450591"/>
            <a:ext cx="1271016" cy="8686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Embedding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8 чисел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331720"/>
            <a:ext cx="1417320" cy="105156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2450591"/>
            <a:ext cx="1271016" cy="8686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MLP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8 → 16 →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331720"/>
            <a:ext cx="1417320" cy="1051560"/>
          </a:xfrm>
          <a:prstGeom prst="roundRect">
            <a:avLst/>
          </a:prstGeom>
          <a:solidFill>
            <a:srgbClr val="DBEF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31552" y="2450591"/>
            <a:ext cx="1271016" cy="8686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Δ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log-odds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2852928"/>
            <a:ext cx="86868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80560" y="2852928"/>
            <a:ext cx="86868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12280" y="2852928"/>
            <a:ext cx="86868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0" y="2852928"/>
            <a:ext cx="86868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41605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Embedding — обучаемый компактный вектор: близкие по риск-паттерну коды могут получать близкие представления.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846320"/>
            <a:ext cx="832104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20240" y="4846320"/>
            <a:ext cx="73152" cy="914400"/>
          </a:xfrm>
          <a:prstGeom prst="rect">
            <a:avLst/>
          </a:prstGeom>
          <a:solidFill>
            <a:srgbClr val="B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21408" y="5010912"/>
            <a:ext cx="7973567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Ограничение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5394959"/>
            <a:ext cx="7973567" cy="2560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Новый или редкий полный код попадает в UNK/RARE bucket — его собственный эффект почти не изучен.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Hierarchical-модель: переносим отраслевой сигнал по уровням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914400" cy="45720"/>
          </a:xfrm>
          <a:prstGeom prst="rect">
            <a:avLst/>
          </a:prstGeom>
          <a:solidFill>
            <a:srgbClr val="1483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10896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Полезна для редких и новых leaf-кодов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41732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947672"/>
            <a:ext cx="1271016" cy="7315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46.74.2</a:t>
            </a:r>
            <a:br/>
            <a:r>
              <a:rPr sz="1600" b="1">
                <a:solidFill>
                  <a:srgbClr val="102A43"/>
                </a:solidFill>
                <a:latin typeface="Aptos"/>
              </a:rPr>
              <a:t>вход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1828800" cy="658368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1444752"/>
            <a:ext cx="1682496" cy="475488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L1: 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423160"/>
            <a:ext cx="1828800" cy="658368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542032"/>
            <a:ext cx="1682496" cy="475488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L2: 46.74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520440"/>
            <a:ext cx="1828800" cy="658368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3639312"/>
            <a:ext cx="1682496" cy="475488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L3: 46.74.2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395728"/>
            <a:ext cx="141732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Embeddings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уровней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920240"/>
            <a:ext cx="173736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2039112"/>
            <a:ext cx="1591056" cy="8686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masked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mean pooling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920240"/>
            <a:ext cx="1554480" cy="105156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97112" y="2039112"/>
            <a:ext cx="1408176" cy="8686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MLP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1920240"/>
            <a:ext cx="822960" cy="1051560"/>
          </a:xfrm>
          <a:prstGeom prst="roundRect">
            <a:avLst/>
          </a:prstGeom>
          <a:solidFill>
            <a:srgbClr val="DBEF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17352" y="2039112"/>
            <a:ext cx="676656" cy="8686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800" b="1">
                <a:solidFill>
                  <a:srgbClr val="148379"/>
                </a:solidFill>
                <a:latin typeface="Aptos"/>
              </a:rPr>
              <a:t>Δ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057400" y="1645920"/>
            <a:ext cx="685800" cy="64008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57400" y="2286000"/>
            <a:ext cx="685800" cy="45720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57400" y="2286000"/>
            <a:ext cx="685800" cy="155448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2423160"/>
            <a:ext cx="205740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2441448"/>
            <a:ext cx="45720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378440" y="2441448"/>
            <a:ext cx="36576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4892040"/>
            <a:ext cx="498348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892040"/>
            <a:ext cx="73152" cy="91440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5056631"/>
            <a:ext cx="463600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Rare leaf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440679"/>
            <a:ext cx="4636008" cy="2560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Если 46.74.2 встречался мало: модель все равно использует 46 и 46.74.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892040"/>
            <a:ext cx="498348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892040"/>
            <a:ext cx="73152" cy="91440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7" y="5056631"/>
            <a:ext cx="463600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Новый leaf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5440679"/>
            <a:ext cx="4636008" cy="2560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Если 46.74.9 отсутствовал в train: leaf = UNK, но 46 и 46.74 остаются известными.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Как сеть обучается безопасно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914400" cy="45720"/>
          </a:xfrm>
          <a:prstGeom prst="rect">
            <a:avLst/>
          </a:prstGeom>
          <a:solidFill>
            <a:srgbClr val="1483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00400" cy="32004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3200400"/>
          </a:xfrm>
          <a:prstGeom prst="rect">
            <a:avLst/>
          </a:prstGeom>
          <a:solidFill>
            <a:srgbClr val="1C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19072"/>
            <a:ext cx="285292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1. Train-only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03120"/>
            <a:ext cx="2852928" cy="25420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Словарь кодов строится только по train. Редкие — RARE; отсутствующие в train — UNK. Это исключает подсматривание в будущее.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554480"/>
            <a:ext cx="3200400" cy="32004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1554480"/>
            <a:ext cx="73152" cy="320040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1719072"/>
            <a:ext cx="285292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2. Нулевая инициализация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2103120"/>
            <a:ext cx="2852928" cy="25420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Последний слой начинается с нулей: до обучения p_final = p_boost. Новая ветка не может ухудшить скор в день запуска.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66175" y="1554480"/>
            <a:ext cx="3200400" cy="32004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66175" y="1554480"/>
            <a:ext cx="73152" cy="3200400"/>
          </a:xfrm>
          <a:prstGeom prst="rect">
            <a:avLst/>
          </a:prstGeom>
          <a:solidFill>
            <a:srgbClr val="1C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1719072"/>
            <a:ext cx="285292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3. Минимизация BCE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103120"/>
            <a:ext cx="2852928" cy="25420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Оптимизируем бинарную cross-entropy по p_final. Early stopping контролирует переобучение по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Веса сети меняются только тогда, когда ОКВЭД объясняет таргет сверх уже учтенного boost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Честная валидация: не даем модели заглянуть в будущее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914400" cy="45720"/>
          </a:xfrm>
          <a:prstGeom prst="rect">
            <a:avLst/>
          </a:prstGeom>
          <a:solidFill>
            <a:srgbClr val="1483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743200" cy="100584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47672"/>
            <a:ext cx="2596896" cy="8229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Train</a:t>
            </a:r>
            <a:br/>
            <a:r>
              <a:rPr sz="1700" b="1">
                <a:solidFill>
                  <a:srgbClr val="102A43"/>
                </a:solidFill>
                <a:latin typeface="Aptos"/>
              </a:rPr>
              <a:t>OOF boost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828800"/>
            <a:ext cx="2743200" cy="100584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82312" y="1947672"/>
            <a:ext cx="2596896" cy="8229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700" b="1">
                <a:solidFill>
                  <a:srgbClr val="102A43"/>
                </a:solidFill>
                <a:latin typeface="Aptos"/>
              </a:rPr>
              <a:t>Validation</a:t>
            </a:r>
            <a:br/>
            <a:r>
              <a:rPr sz="1700" b="1">
                <a:solidFill>
                  <a:srgbClr val="102A43"/>
                </a:solidFill>
                <a:latin typeface="Aptos"/>
              </a:rPr>
              <a:t>frozen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828800"/>
            <a:ext cx="2743200" cy="1005840"/>
          </a:xfrm>
          <a:prstGeom prst="roundRect">
            <a:avLst/>
          </a:prstGeom>
          <a:solidFill>
            <a:srgbClr val="DBEF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947672"/>
            <a:ext cx="2596896" cy="8229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700" b="1">
                <a:solidFill>
                  <a:srgbClr val="148379"/>
                </a:solidFill>
                <a:latin typeface="Aptos"/>
              </a:rPr>
              <a:t>Test</a:t>
            </a:r>
            <a:br/>
            <a:r>
              <a:rPr sz="1700" b="1">
                <a:solidFill>
                  <a:srgbClr val="148379"/>
                </a:solidFill>
                <a:latin typeface="Aptos"/>
              </a:rPr>
              <a:t>frozen 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2331720"/>
            <a:ext cx="123444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52360" y="2331720"/>
            <a:ext cx="123444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931920"/>
            <a:ext cx="329184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73152" cy="1051560"/>
          </a:xfrm>
          <a:prstGeom prst="rect">
            <a:avLst/>
          </a:prstGeom>
          <a:solidFill>
            <a:srgbClr val="1C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096511"/>
            <a:ext cx="294436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Temporal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0559"/>
            <a:ext cx="2944368" cy="39319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Обучаемся на прошлом, проверяем на следующем периоде.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3931920"/>
            <a:ext cx="329184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3984" y="3931920"/>
            <a:ext cx="73152" cy="1051560"/>
          </a:xfrm>
          <a:prstGeom prst="rect">
            <a:avLst/>
          </a:prstGeom>
          <a:solidFill>
            <a:srgbClr val="1C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4096511"/>
            <a:ext cx="294436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Test один раз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4480559"/>
            <a:ext cx="2944368" cy="39319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Гиперпараметры выбираются по validation, не по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3931920"/>
            <a:ext cx="3291840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3931920"/>
            <a:ext cx="73152" cy="105156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4096511"/>
            <a:ext cx="294436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Bootstrap по client_id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4480559"/>
            <a:ext cx="2944368" cy="393191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Доверительный интервал для ΔAUC учитывает повторные заявки клиента.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2600" b="1">
                <a:solidFill>
                  <a:srgbClr val="102A43"/>
                </a:solidFill>
                <a:latin typeface="Aptos"/>
              </a:rPr>
              <a:t>Реальные результаты: прирост Gini к boost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914400" cy="45720"/>
          </a:xfrm>
          <a:prstGeom prst="rect">
            <a:avLst/>
          </a:prstGeom>
          <a:solidFill>
            <a:srgbClr val="1483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310896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Gini = 2·ROC AUC − 1. Прирост в п.п. относительно frozen boost score.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21208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ПК, прирост Gini, п.п.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Региональная модель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901952"/>
            <a:ext cx="2194560" cy="59436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2020824"/>
            <a:ext cx="2048255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Train +1.2   OOT +0.7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Flat residual 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862072"/>
            <a:ext cx="2194560" cy="594360"/>
          </a:xfrm>
          <a:prstGeom prst="roundRect">
            <a:avLst/>
          </a:prstGeom>
          <a:solidFill>
            <a:srgbClr val="1C68A8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2980944"/>
            <a:ext cx="2048255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Train +2.0   OOT +1.2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Hierarchical residual 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822191"/>
            <a:ext cx="2194560" cy="594360"/>
          </a:xfrm>
          <a:prstGeom prst="roundRect">
            <a:avLst/>
          </a:prstGeom>
          <a:solidFill>
            <a:srgbClr val="148379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3941063"/>
            <a:ext cx="2048255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Train +2.0   OOT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475488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Aptos"/>
              </a:rPr>
              <a:t>КК, прирост Gini, п.п.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65960"/>
            <a:ext cx="466344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965960"/>
            <a:ext cx="73152" cy="123444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130552"/>
            <a:ext cx="431596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514600"/>
            <a:ext cx="4315968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Региональная +0.3; flat +0.7; hierarchical +0.3. Меньше данных — оценки менее стабильны.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466344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657600"/>
            <a:ext cx="73152" cy="1234440"/>
          </a:xfrm>
          <a:prstGeom prst="rect">
            <a:avLst/>
          </a:prstGeom>
          <a:solidFill>
            <a:srgbClr val="1C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822191"/>
            <a:ext cx="4315968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206240"/>
            <a:ext cx="4315968" cy="57607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Региональная +2.0; flat +1.7; hierarchical +3.1.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15000"/>
            <a:ext cx="10424160" cy="2560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300" b="1">
                <a:solidFill>
                  <a:srgbClr val="B33F3F"/>
                </a:solidFill>
                <a:latin typeface="Aptos"/>
              </a:rPr>
              <a:t>ПК и КК нельзя учить совместно: слишком большая разница в масштабе loss.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Региональная модель: откуда взят residual-подход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914400" cy="4572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Это уже реализованный референс: сеть использует два региона и делает только поправку к готовому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417320" cy="91440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984248"/>
            <a:ext cx="1307592" cy="7498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score_dubai</a:t>
            </a:r>
            <a:br/>
            <a:r>
              <a:rPr sz="1600" b="1">
                <a:solidFill>
                  <a:srgbClr val="102A43"/>
                </a:solidFill>
                <a:latin typeface="Aptos"/>
              </a:rPr>
              <a:t>[ B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417320"/>
            <a:ext cx="1417320" cy="749808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78024" y="1527048"/>
            <a:ext cx="1307592" cy="585215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Регион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регистрации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487168"/>
            <a:ext cx="1417320" cy="749808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24" y="2596896"/>
            <a:ext cx="1307592" cy="585215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Факт.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регион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557016"/>
            <a:ext cx="1417320" cy="749808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8024" y="3666744"/>
            <a:ext cx="1307592" cy="585215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equal_flag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0 /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1874519" cy="1481328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3" y="1892807"/>
            <a:ext cx="1764791" cy="131673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Shared region</a:t>
            </a:r>
            <a:br/>
            <a:r>
              <a:rPr sz="1500" b="1">
                <a:solidFill>
                  <a:srgbClr val="102A43"/>
                </a:solidFill>
                <a:latin typeface="Aptos"/>
              </a:rPr>
              <a:t>embedding</a:t>
            </a:r>
            <a:br/>
            <a:r>
              <a:rPr sz="1500" b="1">
                <a:solidFill>
                  <a:srgbClr val="102A43"/>
                </a:solidFill>
                <a:latin typeface="Aptos"/>
              </a:rPr>
              <a:t>70 ×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417320"/>
            <a:ext cx="1737360" cy="224028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8583" y="1527048"/>
            <a:ext cx="1627631" cy="20756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Concat: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reg emb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fact emb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|diff|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product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flag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783080"/>
            <a:ext cx="1417320" cy="1481328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1892807"/>
            <a:ext cx="1307592" cy="131673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MLP</a:t>
            </a:r>
            <a:br/>
            <a:r>
              <a:rPr sz="1500" b="1">
                <a:solidFill>
                  <a:srgbClr val="102A43"/>
                </a:solidFill>
                <a:latin typeface="Aptos"/>
              </a:rPr>
              <a:t>17→24→8→1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27080" y="1783080"/>
            <a:ext cx="777240" cy="1481328"/>
          </a:xfrm>
          <a:prstGeom prst="roundRect">
            <a:avLst/>
          </a:prstGeom>
          <a:solidFill>
            <a:srgbClr val="DBEF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81944" y="1892807"/>
            <a:ext cx="667512" cy="1316736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Aptos"/>
              </a:rPr>
              <a:t>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0240" y="2331720"/>
            <a:ext cx="251460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0480" y="1792224"/>
            <a:ext cx="594360" cy="448056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840480" y="2423160"/>
            <a:ext cx="594360" cy="438912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840480" y="2697480"/>
            <a:ext cx="594360" cy="123444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09360" y="2514600"/>
            <a:ext cx="59436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41080" y="2514600"/>
            <a:ext cx="59436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52760" y="2514600"/>
            <a:ext cx="27432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98079" y="4800600"/>
            <a:ext cx="2834640" cy="777240"/>
          </a:xfrm>
          <a:prstGeom prst="roundRect">
            <a:avLst/>
          </a:prstGeom>
          <a:solidFill>
            <a:srgbClr val="DBEF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4910328"/>
            <a:ext cx="2724912" cy="61264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logit(score_dubai) + α × 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34440" y="2788920"/>
            <a:ext cx="6263639" cy="237744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332720" y="3264408"/>
            <a:ext cx="987552" cy="1901952"/>
          </a:xfrm>
          <a:prstGeom prst="line">
            <a:avLst/>
          </a:prstGeom>
          <a:ln w="19050">
            <a:solidFill>
              <a:srgbClr val="1483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" y="594360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ptos"/>
              </a:rPr>
              <a:t>Смысл: регионы не строят весь скор заново. Они корректируют log-odds только там, где в данных есть устойчивый остаточный сигнал.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Aptos"/>
              </a:rPr>
              <a:t>Итоговая ОКВЭД-сеть: что именно входит и выходит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914400" cy="4572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Две альтернативные ветки получают один и тот же готовый score и один основной ОКВЭД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42316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Общие входы для каждой заявки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965960" cy="68580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92807"/>
            <a:ext cx="1856231" cy="521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boost_score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вероятность [0;1]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88920"/>
            <a:ext cx="1965960" cy="6858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898648"/>
            <a:ext cx="1856231" cy="521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primary_okved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например 46.74.2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17320"/>
            <a:ext cx="274320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Вариант A — flat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83080"/>
            <a:ext cx="1417320" cy="68580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1892807"/>
            <a:ext cx="1307592" cy="521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Leaf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783080"/>
            <a:ext cx="1417320" cy="6858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1892807"/>
            <a:ext cx="1307592" cy="521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Embedding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полного кода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1783080"/>
            <a:ext cx="1417320" cy="68580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0024" y="1892807"/>
            <a:ext cx="1307592" cy="521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Encoder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8→16→8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54680"/>
            <a:ext cx="42976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Вариант B — hierarchical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520440"/>
            <a:ext cx="1417320" cy="68580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5304" y="3630168"/>
            <a:ext cx="1307592" cy="521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L1=46</a:t>
            </a:r>
            <a:br/>
            <a:r>
              <a:rPr sz="1200" b="1">
                <a:solidFill>
                  <a:srgbClr val="102A43"/>
                </a:solidFill>
                <a:latin typeface="Aptos"/>
              </a:rPr>
              <a:t>L2=46.74</a:t>
            </a:r>
            <a:br/>
            <a:r>
              <a:rPr sz="1200" b="1">
                <a:solidFill>
                  <a:srgbClr val="102A43"/>
                </a:solidFill>
                <a:latin typeface="Aptos"/>
              </a:rPr>
              <a:t>L3=46.74.2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3520440"/>
            <a:ext cx="1417320" cy="68580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2664" y="3630168"/>
            <a:ext cx="1307592" cy="521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Embedding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каждого уровня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3520440"/>
            <a:ext cx="1417320" cy="685800"/>
          </a:xfrm>
          <a:prstGeom prst="roundRect">
            <a:avLst/>
          </a:prstGeom>
          <a:solidFill>
            <a:srgbClr val="CEDE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4" y="3630168"/>
            <a:ext cx="1307592" cy="521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Masked mean</a:t>
            </a:r>
            <a:br/>
            <a:r>
              <a:rPr sz="1300" b="1">
                <a:solidFill>
                  <a:srgbClr val="102A43"/>
                </a:solidFill>
                <a:latin typeface="Aptos"/>
              </a:rPr>
              <a:t>+ Encoder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578608"/>
            <a:ext cx="12801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1704" y="2688336"/>
            <a:ext cx="1170431" cy="7955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400" b="1">
                <a:solidFill>
                  <a:srgbClr val="102A43"/>
                </a:solidFill>
                <a:latin typeface="Aptos"/>
              </a:rPr>
              <a:t>Residual head</a:t>
            </a:r>
            <a:br/>
            <a:r>
              <a:rPr sz="1400" b="1">
                <a:solidFill>
                  <a:srgbClr val="102A43"/>
                </a:solidFill>
                <a:latin typeface="Aptos"/>
              </a:rPr>
              <a:t>8→1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44200" y="2578608"/>
            <a:ext cx="914400" cy="960120"/>
          </a:xfrm>
          <a:prstGeom prst="roundRect">
            <a:avLst/>
          </a:prstGeom>
          <a:solidFill>
            <a:srgbClr val="DBEF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99064" y="2688336"/>
            <a:ext cx="804672" cy="7955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600" b="1">
                <a:solidFill>
                  <a:srgbClr val="102A43"/>
                </a:solidFill>
                <a:latin typeface="Aptos"/>
              </a:rPr>
              <a:t>Δ</a:t>
            </a:r>
            <a:br/>
            <a:r>
              <a:rPr sz="1600" b="1">
                <a:solidFill>
                  <a:srgbClr val="102A43"/>
                </a:solidFill>
                <a:latin typeface="Aptos"/>
              </a:rPr>
              <a:t>log-odds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4709160"/>
            <a:ext cx="2651760" cy="777240"/>
          </a:xfrm>
          <a:prstGeom prst="roundRect">
            <a:avLst/>
          </a:prstGeom>
          <a:solidFill>
            <a:srgbClr val="DBEFEB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4" y="4818888"/>
            <a:ext cx="2542032" cy="61264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ctr"/>
            <a:r>
              <a:rPr sz="1300" b="1">
                <a:solidFill>
                  <a:srgbClr val="102A43"/>
                </a:solidFill>
                <a:latin typeface="Aptos"/>
              </a:rPr>
              <a:t>p_final = sigmoid(logit(boost_score) + α×Δ)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624328" y="2121408"/>
            <a:ext cx="896112" cy="100584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24328" y="3127248"/>
            <a:ext cx="896112" cy="73152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937760" y="2121408"/>
            <a:ext cx="32004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675120" y="2121408"/>
            <a:ext cx="32004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412480" y="2121408"/>
            <a:ext cx="594360" cy="804672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937760" y="3858768"/>
            <a:ext cx="32004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75120" y="3858768"/>
            <a:ext cx="32004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12480" y="3200400"/>
            <a:ext cx="594360" cy="658368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87000" y="3063240"/>
            <a:ext cx="457200" cy="0"/>
          </a:xfrm>
          <a:prstGeom prst="line">
            <a:avLst/>
          </a:prstGeom>
          <a:ln w="19050">
            <a:solidFill>
              <a:srgbClr val="50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645920" y="2468880"/>
            <a:ext cx="7863840" cy="2240280"/>
          </a:xfrm>
          <a:prstGeom prst="line">
            <a:avLst/>
          </a:prstGeom>
          <a:ln w="19050">
            <a:solidFill>
              <a:srgbClr val="1483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332720" y="3538728"/>
            <a:ext cx="868680" cy="1170432"/>
          </a:xfrm>
          <a:prstGeom prst="line">
            <a:avLst/>
          </a:prstGeom>
          <a:ln w="19050">
            <a:solidFill>
              <a:srgbClr val="1483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77240" y="5806440"/>
            <a:ext cx="3246120" cy="50292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806440"/>
            <a:ext cx="64008" cy="502920"/>
          </a:xfrm>
          <a:prstGeom prst="rect">
            <a:avLst/>
          </a:prstGeom>
          <a:solidFill>
            <a:srgbClr val="1C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961888"/>
            <a:ext cx="2926079" cy="274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Размеры 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6327648"/>
            <a:ext cx="2926079" cy="-1188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flat: ID [B]; hierarchy: IDs [B,3]; encoder output [B,8].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80560" y="5806440"/>
            <a:ext cx="3246120" cy="50292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80560" y="5806440"/>
            <a:ext cx="64008" cy="502920"/>
          </a:xfrm>
          <a:prstGeom prst="rect">
            <a:avLst/>
          </a:prstGeom>
          <a:solidFill>
            <a:srgbClr val="148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5961888"/>
            <a:ext cx="2926079" cy="274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Инициализация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6327648"/>
            <a:ext cx="2926079" cy="-1188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Residual head = 0 → в начале p_final в точности равен boost_score.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3879" y="5806440"/>
            <a:ext cx="3246120" cy="502920"/>
          </a:xfrm>
          <a:prstGeom prst="roundRect">
            <a:avLst/>
          </a:prstGeom>
          <a:solidFill>
            <a:srgbClr val="EFF5FA"/>
          </a:solidFill>
          <a:ln>
            <a:solidFill>
              <a:srgbClr val="CE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5806440"/>
            <a:ext cx="64008" cy="502920"/>
          </a:xfrm>
          <a:prstGeom prst="rect">
            <a:avLst/>
          </a:prstGeom>
          <a:solidFill>
            <a:srgbClr val="1C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59" y="5961888"/>
            <a:ext cx="2926079" cy="274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ptos"/>
              </a:rPr>
              <a:t>Обучаемые части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59" y="6327648"/>
            <a:ext cx="2926079" cy="-1188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l"/>
            <a:r>
              <a:rPr sz="1200" b="0">
                <a:solidFill>
                  <a:srgbClr val="505E6C"/>
                </a:solidFill>
                <a:latin typeface="Aptos"/>
              </a:rPr>
              <a:t>Embeddings, encoder, residual head и α. Сам boost score не меняется.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 algn="r"/>
            <a:r>
              <a:rPr sz="900" b="0">
                <a:solidFill>
                  <a:srgbClr val="505E6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